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992" r:id="rId1"/>
  </p:sldMasterIdLst>
  <p:sldIdLst>
    <p:sldId id="256" r:id="rId2"/>
  </p:sldIdLst>
  <p:sldSz cx="6840538" cy="39582725"/>
  <p:notesSz cx="7104063" cy="10234613"/>
  <p:embeddedFontLst>
    <p:embeddedFont>
      <p:font typeface="나눔스퀘어_ac" panose="020B0600000101010101" pitchFamily="50" charset="-127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학교안심 알림장 TTF R" panose="020B0600000101010101" charset="-127"/>
      <p:regular r:id="rId8"/>
    </p:embeddedFont>
    <p:embeddedFont>
      <p:font typeface="Calibri Light" panose="020F0302020204030204" pitchFamily="34" charset="0"/>
      <p:regular r:id="rId9"/>
      <p:italic r:id="rId10"/>
    </p:embeddedFont>
    <p:embeddedFont>
      <p:font typeface="나눔스퀘어_ac ExtraBold" panose="020B0600000101010101" pitchFamily="50" charset="-127"/>
      <p:bold r:id="rId11"/>
    </p:embeddedFont>
    <p:embeddedFont>
      <p:font typeface="학교안심 알림장 TTF B" panose="020B0600000101010101" charset="-127"/>
      <p:bold r:id="rId12"/>
    </p:embeddedFont>
    <p:embeddedFont>
      <p:font typeface="생거진천체" pitchFamily="2" charset="-127"/>
      <p:regular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1pPr>
    <a:lvl2pPr marL="1269439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2pPr>
    <a:lvl3pPr marL="2538878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3pPr>
    <a:lvl4pPr marL="3808317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4pPr>
    <a:lvl5pPr marL="5077756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5pPr>
    <a:lvl6pPr marL="6347195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6pPr>
    <a:lvl7pPr marL="7616634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7pPr>
    <a:lvl8pPr marL="8886073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8pPr>
    <a:lvl9pPr marL="10155511" algn="l" defTabSz="2538878" rtl="0" eaLnBrk="1" latinLnBrk="1" hangingPunct="1">
      <a:defRPr sz="49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49" userDrawn="1">
          <p15:clr>
            <a:srgbClr val="A4A3A4"/>
          </p15:clr>
        </p15:guide>
        <p15:guide id="2" pos="4082" userDrawn="1">
          <p15:clr>
            <a:srgbClr val="A4A3A4"/>
          </p15:clr>
        </p15:guide>
        <p15:guide id="3" orient="horz" pos="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4545"/>
    <a:srgbClr val="004381"/>
    <a:srgbClr val="3E476A"/>
    <a:srgbClr val="DF032E"/>
    <a:srgbClr val="00A0D2"/>
    <a:srgbClr val="007DC7"/>
    <a:srgbClr val="71AEFF"/>
    <a:srgbClr val="EFF6FF"/>
    <a:srgbClr val="E5F0FF"/>
    <a:srgbClr val="901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4" autoAdjust="0"/>
    <p:restoredTop sz="94660"/>
  </p:normalViewPr>
  <p:slideViewPr>
    <p:cSldViewPr snapToGrid="0">
      <p:cViewPr>
        <p:scale>
          <a:sx n="75" d="100"/>
          <a:sy n="75" d="100"/>
        </p:scale>
        <p:origin x="3540" y="54"/>
      </p:cViewPr>
      <p:guideLst>
        <p:guide pos="249"/>
        <p:guide pos="4082"/>
        <p:guide orient="horz" pos="9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font" Target="fonts/font13.fntdata"/><Relationship Id="rId10" Type="http://schemas.openxmlformats.org/officeDocument/2006/relationships/font" Target="fonts/font8.fntdata"/><Relationship Id="rId19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6478009"/>
            <a:ext cx="5814457" cy="13780652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20790096"/>
            <a:ext cx="5130404" cy="9556660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7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9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9868205"/>
            <a:ext cx="5899964" cy="16465311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26489284"/>
            <a:ext cx="5899964" cy="8658718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/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75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6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10537068"/>
            <a:ext cx="2907229" cy="251148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10537068"/>
            <a:ext cx="2907229" cy="251148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74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107422"/>
            <a:ext cx="5899964" cy="765083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9703268"/>
            <a:ext cx="2893868" cy="475542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14458690"/>
            <a:ext cx="2893868" cy="2126655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9703268"/>
            <a:ext cx="2908120" cy="475542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14458690"/>
            <a:ext cx="2908120" cy="2126655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58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34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03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638848"/>
            <a:ext cx="2206252" cy="9235969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5699188"/>
            <a:ext cx="3463022" cy="28129390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1874818"/>
            <a:ext cx="2206252" cy="21999568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5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2638848"/>
            <a:ext cx="2206252" cy="9235969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5699188"/>
            <a:ext cx="3463022" cy="28129390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11874818"/>
            <a:ext cx="2206252" cy="21999568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17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67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2107413"/>
            <a:ext cx="1474991" cy="3354453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2107413"/>
            <a:ext cx="4339466" cy="3354453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14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0338" y="36687338"/>
            <a:ext cx="1539121" cy="2107413"/>
          </a:xfrm>
          <a:prstGeom prst="rect">
            <a:avLst/>
          </a:prstGeom>
        </p:spPr>
        <p:txBody>
          <a:bodyPr/>
          <a:lstStyle/>
          <a:p>
            <a:fld id="{21DFD833-F82D-4AB7-9760-0BBFB7F4EAE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65933" y="36687338"/>
            <a:ext cx="2308681" cy="2107413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31181" y="36687338"/>
            <a:ext cx="1539121" cy="2107413"/>
          </a:xfrm>
          <a:prstGeom prst="rect">
            <a:avLst/>
          </a:prstGeom>
        </p:spPr>
        <p:txBody>
          <a:bodyPr/>
          <a:lstStyle/>
          <a:p>
            <a:fld id="{64778B7A-4FEC-401A-8A8E-84E1126DD6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390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2107422"/>
            <a:ext cx="5899964" cy="7650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10537068"/>
            <a:ext cx="5899964" cy="2511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36687330"/>
            <a:ext cx="1539121" cy="2107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36687330"/>
            <a:ext cx="2308682" cy="2107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36687330"/>
            <a:ext cx="1539121" cy="2107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2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txStyles>
    <p:titleStyle>
      <a:lvl1pPr algn="l" defTabSz="684063" rtl="0" eaLnBrk="1" latinLnBrk="1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1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1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그룹 440"/>
          <p:cNvGrpSpPr/>
          <p:nvPr/>
        </p:nvGrpSpPr>
        <p:grpSpPr>
          <a:xfrm>
            <a:off x="-85893" y="0"/>
            <a:ext cx="7313826" cy="39581928"/>
            <a:chOff x="-87363" y="-9000328"/>
            <a:chExt cx="7313826" cy="39581928"/>
          </a:xfrm>
        </p:grpSpPr>
        <p:pic>
          <p:nvPicPr>
            <p:cNvPr id="450" name="그림 44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7" y="18051689"/>
              <a:ext cx="6840538" cy="7018295"/>
            </a:xfrm>
            <a:prstGeom prst="rect">
              <a:avLst/>
            </a:prstGeom>
          </p:spPr>
        </p:pic>
        <p:pic>
          <p:nvPicPr>
            <p:cNvPr id="442" name="그림 44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9000328"/>
              <a:ext cx="6840538" cy="6840538"/>
            </a:xfrm>
            <a:prstGeom prst="rect">
              <a:avLst/>
            </a:prstGeom>
          </p:spPr>
        </p:pic>
        <p:pic>
          <p:nvPicPr>
            <p:cNvPr id="443" name="그림 44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19427"/>
            <a:stretch/>
          </p:blipFill>
          <p:spPr>
            <a:xfrm>
              <a:off x="-257" y="25069984"/>
              <a:ext cx="6840538" cy="5511616"/>
            </a:xfrm>
            <a:prstGeom prst="rect">
              <a:avLst/>
            </a:prstGeom>
          </p:spPr>
        </p:pic>
        <p:grpSp>
          <p:nvGrpSpPr>
            <p:cNvPr id="444" name="그룹 443"/>
            <p:cNvGrpSpPr/>
            <p:nvPr/>
          </p:nvGrpSpPr>
          <p:grpSpPr>
            <a:xfrm>
              <a:off x="454614" y="25748431"/>
              <a:ext cx="6120004" cy="3901068"/>
              <a:chOff x="382037" y="43787164"/>
              <a:chExt cx="6120000" cy="3901095"/>
            </a:xfrm>
          </p:grpSpPr>
          <p:sp>
            <p:nvSpPr>
              <p:cNvPr id="464" name="직사각형 463"/>
              <p:cNvSpPr/>
              <p:nvPr/>
            </p:nvSpPr>
            <p:spPr>
              <a:xfrm>
                <a:off x="382037" y="43787164"/>
                <a:ext cx="6120000" cy="3901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2600"/>
                  </a:lnSpc>
                  <a:spcAft>
                    <a:spcPts val="500"/>
                  </a:spcAft>
                </a:pPr>
                <a:r>
                  <a:rPr lang="en-US" altLang="ko-KR" sz="1800" dirty="0">
                    <a:solidFill>
                      <a:schemeClr val="bg1"/>
                    </a:solidFill>
                    <a:latin typeface="나눔스퀘어_ac ExtraBold" panose="020B0600000101010101" pitchFamily="50" charset="-127"/>
                    <a:ea typeface="나눔스퀘어_ac ExtraBold" panose="020B0600000101010101" pitchFamily="50" charset="-127"/>
                  </a:rPr>
                  <a:t>Compliance Notice</a:t>
                </a:r>
                <a:endParaRPr lang="ko-KR" altLang="ko-KR" sz="1800" dirty="0">
                  <a:solidFill>
                    <a:schemeClr val="bg1"/>
                  </a:solidFill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  <a:p>
                <a:pPr>
                  <a:lnSpc>
                    <a:spcPts val="1900"/>
                  </a:lnSpc>
                </a:pP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자료에 기재된 내용들은 작성자 본인의 의견을 정확하게 반영하고 있으며 외부의 </a:t>
                </a:r>
                <a:r>
                  <a:rPr lang="en-US" altLang="ko-KR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부당한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압력이나 간섭 없이 작성되었음을 확인합니다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(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작성자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: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리서치센터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).</a:t>
                </a:r>
              </a:p>
              <a:p>
                <a:pPr>
                  <a:lnSpc>
                    <a:spcPts val="1900"/>
                  </a:lnSpc>
                </a:pP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자료는 고객의 증권투자를 돕기 위한 정보제공을 목적으로 제작되었습니다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 </a:t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자료에 수록된 내용은 당사 리서치본부가 신뢰할 만한 자료 및 정보를 바탕으로 작성한 것이나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당사가 그 정확성이나 완전성을 보장할 수 없으므로 참고자료로만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활용하시기 바라며 유가증권 투자 시 투자자 자신의 판단과 책임하에 최종결정을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하시기 바랍니다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따라서 본 자료는 어떠한 경우에도 고객의 증권투자 결과에 대한 법적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책임소재의 증빙자료로 사용될 수 없습니다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본 자료는 당사의 저작물로서 모든 저작권은 당사에게 있으며 어떠한 경우에도 당사의 동의 없이 복제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배포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전송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변형될 수 없습니다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자료는 제공시점 현재 기관투자가 또는 제</a:t>
                </a:r>
                <a:r>
                  <a:rPr lang="en-US" altLang="ko-KR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3</a:t>
                </a:r>
                <a:r>
                  <a:rPr lang="ko-KR" altLang="en-US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자에게 사전 제공한 사실이 없습니다</a:t>
                </a:r>
                <a:r>
                  <a:rPr lang="en-US" altLang="ko-KR" sz="1400" spc="-38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자료의 </a:t>
                </a:r>
                <a:r>
                  <a:rPr lang="ko-KR" altLang="en-US" sz="1400" spc="-31" dirty="0" err="1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추천종목은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전일 기준 현재당사에서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1%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이상 보유하고 있지 않습니다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자료의 </a:t>
                </a:r>
                <a:r>
                  <a:rPr lang="ko-KR" altLang="en-US" sz="1400" spc="-31" dirty="0" err="1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추천종목은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전일 기준 현재 당사의 조사분석 담당자 및 그 배우자 등 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/>
                </a:r>
                <a:b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</a:b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  </a:t>
                </a:r>
                <a:r>
                  <a:rPr lang="ko-KR" altLang="en-US" sz="1400" spc="-31" dirty="0" smtClean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관련자가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보유하고 있지 않습니다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  <a:p>
                <a:pPr>
                  <a:lnSpc>
                    <a:spcPts val="1900"/>
                  </a:lnSpc>
                </a:pP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_ </a:t>
                </a:r>
                <a:r>
                  <a:rPr lang="ko-KR" altLang="en-US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동 자료의 추천종목에 해당하는 회사는 당사와 계열회사 관계에 있지 않습니다</a:t>
                </a:r>
                <a:r>
                  <a:rPr lang="en-US" altLang="ko-KR" sz="1400" spc="-31" dirty="0">
                    <a:solidFill>
                      <a:schemeClr val="bg1"/>
                    </a:solidFill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</p:txBody>
          </p:sp>
          <p:cxnSp>
            <p:nvCxnSpPr>
              <p:cNvPr id="465" name="직선 연결선 464"/>
              <p:cNvCxnSpPr/>
              <p:nvPr/>
            </p:nvCxnSpPr>
            <p:spPr>
              <a:xfrm flipV="1">
                <a:off x="2686050" y="44011396"/>
                <a:ext cx="3689350" cy="436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5" name="그룹 444"/>
            <p:cNvGrpSpPr/>
            <p:nvPr/>
          </p:nvGrpSpPr>
          <p:grpSpPr>
            <a:xfrm>
              <a:off x="-1471" y="-2159790"/>
              <a:ext cx="6841752" cy="7325660"/>
              <a:chOff x="-1214" y="7315880"/>
              <a:chExt cx="6841752" cy="7325660"/>
            </a:xfrm>
          </p:grpSpPr>
          <p:pic>
            <p:nvPicPr>
              <p:cNvPr id="458" name="그림 457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7315880"/>
                <a:ext cx="6840538" cy="7325660"/>
              </a:xfrm>
              <a:prstGeom prst="rect">
                <a:avLst/>
              </a:prstGeom>
            </p:spPr>
          </p:pic>
          <p:pic>
            <p:nvPicPr>
              <p:cNvPr id="459" name="그림 45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7315881"/>
                <a:ext cx="2269735" cy="1160490"/>
              </a:xfrm>
              <a:prstGeom prst="rect">
                <a:avLst/>
              </a:prstGeom>
            </p:spPr>
          </p:pic>
          <p:sp>
            <p:nvSpPr>
              <p:cNvPr id="460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5206" y="9615705"/>
                <a:ext cx="4450125" cy="405726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348319" indent="-342893">
                  <a:lnSpc>
                    <a:spcPct val="120000"/>
                  </a:lnSpc>
                  <a:spcBef>
                    <a:spcPts val="43"/>
                  </a:spcBef>
                  <a:spcAft>
                    <a:spcPts val="1368"/>
                  </a:spcAft>
                  <a:buClr>
                    <a:srgbClr val="C44545"/>
                  </a:buClr>
                  <a:buSzPct val="110000"/>
                  <a:buFont typeface="Wingdings" panose="05000000000000000000" pitchFamily="2" charset="2"/>
                  <a:buChar char="l"/>
                </a:pPr>
                <a:endParaRPr lang="en-US" altLang="ko-KR" sz="2300" dirty="0" smtClean="0">
                  <a:latin typeface="나눔스퀘어_ac ExtraBold" panose="020B0600000101010101" pitchFamily="50" charset="-127"/>
                  <a:ea typeface="나눔스퀘어_ac ExtraBold" panose="020B0600000101010101" pitchFamily="50" charset="-127"/>
                </a:endParaRPr>
              </a:p>
            </p:txBody>
          </p:sp>
          <p:sp>
            <p:nvSpPr>
              <p:cNvPr id="461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2992" y="8626931"/>
                <a:ext cx="4957692" cy="436375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5433"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ko-KR" sz="2800" spc="-140" dirty="0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</a:rPr>
                  <a:t>1</a:t>
                </a:r>
                <a:r>
                  <a:rPr lang="en-US" altLang="ko-KR" sz="2800" spc="-140" dirty="0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</a:rPr>
                  <a:t>Q26 Review</a:t>
                </a:r>
                <a:endParaRPr lang="ko-KR" altLang="en-US" sz="2800" spc="-140" dirty="0">
                  <a:solidFill>
                    <a:srgbClr val="C44545"/>
                  </a:solidFill>
                  <a:latin typeface="학교안심 알림장 TTF B" panose="02000703000000000000" pitchFamily="2" charset="-127"/>
                  <a:ea typeface="학교안심 알림장 TTF B" panose="02000703000000000000" pitchFamily="2" charset="-127"/>
                </a:endParaRPr>
              </a:p>
            </p:txBody>
          </p:sp>
          <p:pic>
            <p:nvPicPr>
              <p:cNvPr id="462" name="그림 46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14" y="8990750"/>
                <a:ext cx="6840538" cy="1575950"/>
              </a:xfrm>
              <a:prstGeom prst="rect">
                <a:avLst/>
              </a:prstGeom>
            </p:spPr>
          </p:pic>
          <p:sp>
            <p:nvSpPr>
              <p:cNvPr id="463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937" y="7979724"/>
                <a:ext cx="2061778" cy="251709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5433"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ko-KR" sz="1600" dirty="0" smtClean="0">
                    <a:solidFill>
                      <a:schemeClr val="bg1"/>
                    </a:solidFill>
                    <a:latin typeface="학교안심 알림장 TTF R" panose="02000503000000000000" pitchFamily="2" charset="-127"/>
                    <a:ea typeface="학교안심 알림장 TTF R" panose="02000503000000000000" pitchFamily="2" charset="-127"/>
                  </a:rPr>
                  <a:t>Mid-Small Cap</a:t>
                </a:r>
                <a:endParaRPr lang="en-US" altLang="ko-KR" sz="1600" dirty="0" smtClean="0">
                  <a:solidFill>
                    <a:schemeClr val="bg1"/>
                  </a:solidFill>
                  <a:latin typeface="학교안심 알림장 TTF R" panose="02000503000000000000" pitchFamily="2" charset="-127"/>
                  <a:ea typeface="학교안심 알림장 TTF R" panose="02000503000000000000" pitchFamily="2" charset="-127"/>
                </a:endParaRPr>
              </a:p>
            </p:txBody>
          </p:sp>
        </p:grpSp>
        <p:pic>
          <p:nvPicPr>
            <p:cNvPr id="456" name="그림 45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7" y="4658686"/>
              <a:ext cx="6840538" cy="6295518"/>
            </a:xfrm>
            <a:prstGeom prst="rect">
              <a:avLst/>
            </a:prstGeom>
          </p:spPr>
        </p:pic>
        <p:grpSp>
          <p:nvGrpSpPr>
            <p:cNvPr id="447" name="그룹 446"/>
            <p:cNvGrpSpPr/>
            <p:nvPr/>
          </p:nvGrpSpPr>
          <p:grpSpPr>
            <a:xfrm>
              <a:off x="-87363" y="10954204"/>
              <a:ext cx="7077891" cy="7655268"/>
              <a:chOff x="-87106" y="-522957"/>
              <a:chExt cx="7077891" cy="7655268"/>
            </a:xfrm>
          </p:grpSpPr>
          <p:pic>
            <p:nvPicPr>
              <p:cNvPr id="452" name="그림 45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-522957"/>
                <a:ext cx="6840538" cy="7655268"/>
              </a:xfrm>
              <a:prstGeom prst="rect">
                <a:avLst/>
              </a:prstGeom>
            </p:spPr>
          </p:pic>
          <p:sp>
            <p:nvSpPr>
              <p:cNvPr id="454" name="object 5">
                <a:extLst>
                  <a:ext uri="{FF2B5EF4-FFF2-40B4-BE49-F238E27FC236}">
                    <a16:creationId xmlns:a16="http://schemas.microsoft.com/office/drawing/2014/main" id="{2CB1CF92-EFF5-7B73-7384-0F57B58668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2080" y="897165"/>
                <a:ext cx="5178604" cy="374820"/>
              </a:xfrm>
              <a:prstGeom prst="rect">
                <a:avLst/>
              </a:prstGeom>
              <a:noFill/>
            </p:spPr>
            <p:txBody>
              <a:bodyPr vert="horz" wrap="square" lIns="0" tIns="5435" rIns="0" bIns="0" rtlCol="0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  <a:cs typeface="+mj-cs"/>
                  </a:defRPr>
                </a:lvl1pPr>
              </a:lstStyle>
              <a:p>
                <a:pPr marL="5433" algn="ctr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ko-KR" altLang="en-US" sz="2400" spc="-160" dirty="0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  <a:cs typeface="+mn-cs"/>
                  </a:rPr>
                  <a:t>영업이익 고성장</a:t>
                </a:r>
                <a:r>
                  <a:rPr lang="en-US" altLang="ko-KR" sz="2400" spc="-160" dirty="0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  <a:cs typeface="+mn-cs"/>
                  </a:rPr>
                  <a:t>: </a:t>
                </a:r>
                <a:r>
                  <a:rPr lang="ko-KR" altLang="en-US" sz="2400" spc="-160" dirty="0" err="1" smtClean="0">
                    <a:solidFill>
                      <a:srgbClr val="C44545"/>
                    </a:solidFill>
                    <a:latin typeface="학교안심 알림장 TTF B" panose="02000703000000000000" pitchFamily="2" charset="-127"/>
                    <a:ea typeface="학교안심 알림장 TTF B" panose="02000703000000000000" pitchFamily="2" charset="-127"/>
                    <a:cs typeface="+mn-cs"/>
                  </a:rPr>
                  <a:t>디스펜서</a:t>
                </a:r>
                <a:endParaRPr lang="ko-KR" altLang="en-US" sz="2400" spc="-160" dirty="0">
                  <a:solidFill>
                    <a:srgbClr val="C44545"/>
                  </a:solidFill>
                  <a:latin typeface="학교안심 알림장 TTF B" panose="02000703000000000000" pitchFamily="2" charset="-127"/>
                  <a:ea typeface="학교안심 알림장 TTF B" panose="02000703000000000000" pitchFamily="2" charset="-127"/>
                  <a:cs typeface="+mn-cs"/>
                </a:endParaRPr>
              </a:p>
            </p:txBody>
          </p:sp>
          <p:pic>
            <p:nvPicPr>
              <p:cNvPr id="455" name="그림 454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7106" y="1155221"/>
                <a:ext cx="7077891" cy="1575950"/>
              </a:xfrm>
              <a:prstGeom prst="rect">
                <a:avLst/>
              </a:prstGeom>
            </p:spPr>
          </p:pic>
        </p:grpSp>
        <p:sp>
          <p:nvSpPr>
            <p:cNvPr id="449" name="TextBox 448"/>
            <p:cNvSpPr txBox="1"/>
            <p:nvPr/>
          </p:nvSpPr>
          <p:spPr>
            <a:xfrm rot="20652393">
              <a:off x="1714663" y="-7035844"/>
              <a:ext cx="5511800" cy="29336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ts val="5800"/>
                </a:lnSpc>
              </a:pPr>
              <a:r>
                <a:rPr lang="ko-KR" altLang="en-US" sz="5600" spc="-100" dirty="0" smtClean="0">
                  <a:latin typeface="생거진천체" pitchFamily="2" charset="-127"/>
                  <a:ea typeface="생거진천체" pitchFamily="2" charset="-127"/>
                </a:rPr>
                <a:t>오늘의</a:t>
              </a:r>
              <a:endParaRPr lang="en-US" altLang="ko-KR" sz="5600" spc="-100" dirty="0" smtClean="0">
                <a:latin typeface="생거진천체" pitchFamily="2" charset="-127"/>
                <a:ea typeface="생거진천체" pitchFamily="2" charset="-127"/>
              </a:endParaRPr>
            </a:p>
            <a:p>
              <a:pPr>
                <a:lnSpc>
                  <a:spcPts val="5800"/>
                </a:lnSpc>
              </a:pPr>
              <a:r>
                <a:rPr lang="ko-KR" altLang="en-US" sz="5600" spc="-100" dirty="0" err="1" smtClean="0">
                  <a:latin typeface="생거진천체" pitchFamily="2" charset="-127"/>
                  <a:ea typeface="생거진천체" pitchFamily="2" charset="-127"/>
                </a:rPr>
                <a:t>레포트</a:t>
              </a:r>
            </a:p>
            <a:p>
              <a:pPr>
                <a:lnSpc>
                  <a:spcPts val="5800"/>
                </a:lnSpc>
              </a:pPr>
              <a:r>
                <a:rPr lang="ko-KR" altLang="en-US" sz="5400" spc="-400" dirty="0" err="1" smtClean="0">
                  <a:solidFill>
                    <a:srgbClr val="004381"/>
                  </a:solidFill>
                  <a:latin typeface="생거진천체" pitchFamily="2" charset="-127"/>
                  <a:ea typeface="생거진천체" pitchFamily="2" charset="-127"/>
                </a:rPr>
                <a:t>프로텍</a:t>
              </a:r>
              <a:endParaRPr lang="en-US" altLang="ko-KR" sz="5400" spc="-400" dirty="0" smtClean="0">
                <a:solidFill>
                  <a:srgbClr val="004381"/>
                </a:solidFill>
                <a:latin typeface="생거진천체" pitchFamily="2" charset="-127"/>
                <a:ea typeface="생거진천체" pitchFamily="2" charset="-127"/>
              </a:endParaRPr>
            </a:p>
            <a:p>
              <a:pPr>
                <a:lnSpc>
                  <a:spcPts val="5800"/>
                </a:lnSpc>
              </a:pPr>
              <a:r>
                <a:rPr lang="en-US" altLang="ko-KR" sz="5400" spc="-400" dirty="0" smtClean="0">
                  <a:solidFill>
                    <a:srgbClr val="004381"/>
                  </a:solidFill>
                  <a:latin typeface="생거진천체" pitchFamily="2" charset="-127"/>
                  <a:ea typeface="생거진천체" pitchFamily="2" charset="-127"/>
                </a:rPr>
                <a:t>(053610)</a:t>
              </a:r>
              <a:endParaRPr lang="en-US" altLang="ko-KR" sz="5400" spc="-400" dirty="0">
                <a:solidFill>
                  <a:srgbClr val="004381"/>
                </a:solidFill>
                <a:latin typeface="생거진천체" pitchFamily="2" charset="-127"/>
                <a:ea typeface="생거진천체" pitchFamily="2" charset="-127"/>
              </a:endParaRPr>
            </a:p>
          </p:txBody>
        </p:sp>
      </p:grpSp>
      <p:sp>
        <p:nvSpPr>
          <p:cNvPr id="54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076735" y="29379766"/>
            <a:ext cx="4752631" cy="2590811"/>
          </a:xfrm>
          <a:prstGeom prst="rect">
            <a:avLst/>
          </a:prstGeom>
          <a:noFill/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462618" lvl="0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자사주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200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만주 전량 소각 진행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lvl="0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소각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완료일은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2026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년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5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월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일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소각 물량은 발행주식수의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18.2%</a:t>
            </a:r>
          </a:p>
          <a:p>
            <a:pPr marL="462618" lvl="0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  <a:tabLst>
                <a:tab pos="8523288" algn="l"/>
              </a:tabLst>
              <a:defRPr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자사주 소각으로 인한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EPS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증분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효과 기대</a:t>
            </a:r>
            <a:endParaRPr lang="en-US" altLang="ko-KR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147968" y="9100013"/>
            <a:ext cx="4610166" cy="3158146"/>
          </a:xfrm>
          <a:prstGeom prst="rect">
            <a:avLst/>
          </a:prstGeom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1Q26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실적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Review: </a:t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매출액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624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억원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(+105.3% </a:t>
            </a:r>
            <a:r>
              <a:rPr lang="en-US" altLang="ko-KR" sz="23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yoy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),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영업이익 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154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억원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(+428.3% </a:t>
            </a:r>
            <a:r>
              <a:rPr lang="en-US" altLang="ko-KR" sz="2300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yoy</a:t>
            </a:r>
            <a:r>
              <a:rPr lang="en-US" altLang="ko-KR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OP Margin 24.7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%)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기록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기존 당사 추정치인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Sales 526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억원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OP 98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억원 대비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상회한 수치 기록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130039" y="22269934"/>
            <a:ext cx="4752631" cy="3337682"/>
          </a:xfrm>
          <a:prstGeom prst="rect">
            <a:avLst/>
          </a:prstGeom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프로텍의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본업인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디스펜서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장비가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반도체 호황으로 공급 확대 추세 진행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디스펜서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: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칩과 패키지 기판을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접합하는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본딩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과정에서 사용되는 장비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348319" indent="-342893">
              <a:lnSpc>
                <a:spcPct val="120000"/>
              </a:lnSpc>
              <a:spcBef>
                <a:spcPts val="43"/>
              </a:spcBef>
              <a:spcAft>
                <a:spcPts val="1368"/>
              </a:spcAft>
              <a:buClr>
                <a:srgbClr val="C44545"/>
              </a:buClr>
              <a:buSzPct val="110000"/>
              <a:buFont typeface="Wingdings" panose="05000000000000000000" pitchFamily="2" charset="2"/>
              <a:buChar char="l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메모리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+</a:t>
            </a:r>
            <a:r>
              <a:rPr lang="ko-KR" altLang="en-US" sz="23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비메모리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OSAT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업체들이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고객사기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때문에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해당 장비는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반도체 출하량에 연동되는 흐름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2CB1CF92-EFF5-7B73-7384-0F57B58668AC}"/>
              </a:ext>
            </a:extLst>
          </p:cNvPr>
          <p:cNvSpPr txBox="1">
            <a:spLocks/>
          </p:cNvSpPr>
          <p:nvPr/>
        </p:nvSpPr>
        <p:spPr>
          <a:xfrm>
            <a:off x="1043951" y="15170988"/>
            <a:ext cx="4752631" cy="3015543"/>
          </a:xfrm>
          <a:prstGeom prst="rect">
            <a:avLst/>
          </a:prstGeom>
          <a:noFill/>
        </p:spPr>
        <p:txBody>
          <a:bodyPr vert="horz" wrap="square" lIns="0" tIns="543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</a:pP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실적 개선 사유는 다음과 같음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</a:pP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1)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전방 고객사인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OSAT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기업들의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디스펜서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+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레이저본더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수요 증가로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1Q26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장비 공급 발생</a:t>
            </a:r>
            <a:endParaRPr lang="en-US" altLang="ko-KR" sz="2300" dirty="0" smtClean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marL="462618" indent="-457189">
              <a:lnSpc>
                <a:spcPct val="120000"/>
              </a:lnSpc>
              <a:spcBef>
                <a:spcPts val="43"/>
              </a:spcBef>
              <a:spcAft>
                <a:spcPts val="1800"/>
              </a:spcAft>
              <a:buClr>
                <a:srgbClr val="DF032E"/>
              </a:buClr>
              <a:buSzPct val="105000"/>
              <a:buFont typeface="Wingdings" panose="05000000000000000000" pitchFamily="2" charset="2"/>
              <a:buChar char="ü"/>
            </a:pP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2) NAND Probe Card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수요 증가로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/>
            </a:r>
            <a:b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</a:b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자회사 </a:t>
            </a:r>
            <a:r>
              <a:rPr lang="ko-KR" altLang="en-US" sz="2300" dirty="0" err="1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피엠티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손익 개선 </a:t>
            </a:r>
            <a:r>
              <a:rPr lang="en-US" altLang="ko-KR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+ </a:t>
            </a:r>
            <a:r>
              <a:rPr lang="ko-KR" altLang="en-US" sz="2300" dirty="0" smtClean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흑자전환</a:t>
            </a:r>
            <a:endParaRPr lang="ko-KR" altLang="en-US" sz="23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224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6100</TotalTime>
  <Words>337</Words>
  <Application>Microsoft Office PowerPoint</Application>
  <PresentationFormat>사용자 지정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나눔스퀘어_ac</vt:lpstr>
      <vt:lpstr>Calibri</vt:lpstr>
      <vt:lpstr>Arial</vt:lpstr>
      <vt:lpstr>학교안심 알림장 TTF R</vt:lpstr>
      <vt:lpstr>Wingdings</vt:lpstr>
      <vt:lpstr>Calibri Light</vt:lpstr>
      <vt:lpstr>나눔스퀘어_ac ExtraBold</vt:lpstr>
      <vt:lpstr>학교안심 알림장 TTF B</vt:lpstr>
      <vt:lpstr>생거진천체</vt:lpstr>
      <vt:lpstr>맑은 고딕</vt:lpstr>
      <vt:lpstr>Office 테마</vt:lpstr>
      <vt:lpstr>PowerPoint 프레젠테이션</vt:lpstr>
    </vt:vector>
  </TitlesOfParts>
  <Company>이트레이드증권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PC-1899</dc:creator>
  <cp:lastModifiedBy>PC-2226</cp:lastModifiedBy>
  <cp:revision>1118</cp:revision>
  <cp:lastPrinted>2024-11-28T00:25:37Z</cp:lastPrinted>
  <dcterms:created xsi:type="dcterms:W3CDTF">2024-10-14T22:57:29Z</dcterms:created>
  <dcterms:modified xsi:type="dcterms:W3CDTF">2026-05-15T00:27:15Z</dcterms:modified>
</cp:coreProperties>
</file>