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992" r:id="rId1"/>
  </p:sldMasterIdLst>
  <p:sldIdLst>
    <p:sldId id="256" r:id="rId2"/>
  </p:sldIdLst>
  <p:sldSz cx="6840538" cy="39582725"/>
  <p:notesSz cx="7104063" cy="10234613"/>
  <p:embeddedFontLst>
    <p:embeddedFont>
      <p:font typeface="나눔스퀘어_ac" panose="020B0600000101010101" pitchFamily="50" charset="-127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생거진천체" pitchFamily="2" charset="-127"/>
      <p:regular r:id="rId8"/>
    </p:embeddedFont>
    <p:embeddedFont>
      <p:font typeface="Calibri Light" panose="020F0302020204030204" pitchFamily="34" charset="0"/>
      <p:regular r:id="rId9"/>
      <p:italic r:id="rId10"/>
    </p:embeddedFont>
    <p:embeddedFont>
      <p:font typeface="나눔스퀘어_ac ExtraBold" panose="020B0600000101010101" pitchFamily="50" charset="-127"/>
      <p:bold r:id="rId11"/>
    </p:embeddedFont>
    <p:embeddedFont>
      <p:font typeface="학교안심 알림장 TTF B" panose="020B0600000101010101" charset="-127"/>
      <p:bold r:id="rId12"/>
    </p:embeddedFont>
    <p:embeddedFont>
      <p:font typeface="학교안심 알림장 TTF R" panose="020B0600000101010101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1pPr>
    <a:lvl2pPr marL="1269439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2pPr>
    <a:lvl3pPr marL="2538878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3pPr>
    <a:lvl4pPr marL="3808317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4pPr>
    <a:lvl5pPr marL="5077756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5pPr>
    <a:lvl6pPr marL="6347195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6pPr>
    <a:lvl7pPr marL="7616634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7pPr>
    <a:lvl8pPr marL="8886073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8pPr>
    <a:lvl9pPr marL="10155511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49" userDrawn="1">
          <p15:clr>
            <a:srgbClr val="A4A3A4"/>
          </p15:clr>
        </p15:guide>
        <p15:guide id="2" pos="4082" userDrawn="1">
          <p15:clr>
            <a:srgbClr val="A4A3A4"/>
          </p15:clr>
        </p15:guide>
        <p15:guide id="3" orient="horz" pos="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4545"/>
    <a:srgbClr val="004381"/>
    <a:srgbClr val="3E476A"/>
    <a:srgbClr val="DF032E"/>
    <a:srgbClr val="00A0D2"/>
    <a:srgbClr val="007DC7"/>
    <a:srgbClr val="71AEFF"/>
    <a:srgbClr val="EFF6FF"/>
    <a:srgbClr val="E5F0FF"/>
    <a:srgbClr val="901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4" autoAdjust="0"/>
    <p:restoredTop sz="94660"/>
  </p:normalViewPr>
  <p:slideViewPr>
    <p:cSldViewPr snapToGrid="0">
      <p:cViewPr>
        <p:scale>
          <a:sx n="75" d="100"/>
          <a:sy n="75" d="100"/>
        </p:scale>
        <p:origin x="3456" y="-8586"/>
      </p:cViewPr>
      <p:guideLst>
        <p:guide pos="249"/>
        <p:guide pos="4082"/>
        <p:guide orient="horz" pos="9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font" Target="fonts/font13.fntdata"/><Relationship Id="rId10" Type="http://schemas.openxmlformats.org/officeDocument/2006/relationships/font" Target="fonts/font8.fntdata"/><Relationship Id="rId19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6478009"/>
            <a:ext cx="5814457" cy="13780652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20790096"/>
            <a:ext cx="5130404" cy="9556660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7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9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9868205"/>
            <a:ext cx="5899964" cy="16465311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26489284"/>
            <a:ext cx="5899964" cy="8658718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/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75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6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10537068"/>
            <a:ext cx="2907229" cy="251148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10537068"/>
            <a:ext cx="2907229" cy="251148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74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107422"/>
            <a:ext cx="5899964" cy="765083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9703268"/>
            <a:ext cx="2893868" cy="475542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14458690"/>
            <a:ext cx="2893868" cy="2126655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9703268"/>
            <a:ext cx="2908120" cy="475542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14458690"/>
            <a:ext cx="2908120" cy="2126655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58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34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03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638848"/>
            <a:ext cx="2206252" cy="9235969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5699188"/>
            <a:ext cx="3463022" cy="28129390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1874818"/>
            <a:ext cx="2206252" cy="21999568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65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638848"/>
            <a:ext cx="2206252" cy="9235969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5699188"/>
            <a:ext cx="3463022" cy="28129390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1874818"/>
            <a:ext cx="2206252" cy="21999568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17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67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2107413"/>
            <a:ext cx="1474991" cy="3354453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2107413"/>
            <a:ext cx="4339466" cy="3354453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14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0338" y="36687338"/>
            <a:ext cx="1539121" cy="2107413"/>
          </a:xfrm>
          <a:prstGeom prst="rect">
            <a:avLst/>
          </a:prstGeom>
        </p:spPr>
        <p:txBody>
          <a:bodyPr/>
          <a:lstStyle/>
          <a:p>
            <a:fld id="{21DFD833-F82D-4AB7-9760-0BBFB7F4EAE8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5933" y="36687338"/>
            <a:ext cx="2308681" cy="210741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31181" y="36687338"/>
            <a:ext cx="1539121" cy="2107413"/>
          </a:xfrm>
          <a:prstGeom prst="rect">
            <a:avLst/>
          </a:prstGeom>
        </p:spPr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390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2107422"/>
            <a:ext cx="5899964" cy="7650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10537068"/>
            <a:ext cx="5899964" cy="2511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36687330"/>
            <a:ext cx="1539121" cy="2107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36687330"/>
            <a:ext cx="2308682" cy="2107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36687330"/>
            <a:ext cx="1539121" cy="2107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2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txStyles>
    <p:titleStyle>
      <a:lvl1pPr algn="l" defTabSz="684063" rtl="0" eaLnBrk="1" latinLnBrk="1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1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그룹 440"/>
          <p:cNvGrpSpPr/>
          <p:nvPr/>
        </p:nvGrpSpPr>
        <p:grpSpPr>
          <a:xfrm>
            <a:off x="-85893" y="0"/>
            <a:ext cx="7313826" cy="39581928"/>
            <a:chOff x="-87363" y="-9000328"/>
            <a:chExt cx="7313826" cy="39581928"/>
          </a:xfrm>
        </p:grpSpPr>
        <p:pic>
          <p:nvPicPr>
            <p:cNvPr id="450" name="그림 44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7" y="18051689"/>
              <a:ext cx="6840538" cy="7018295"/>
            </a:xfrm>
            <a:prstGeom prst="rect">
              <a:avLst/>
            </a:prstGeom>
          </p:spPr>
        </p:pic>
        <p:pic>
          <p:nvPicPr>
            <p:cNvPr id="442" name="그림 44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9000328"/>
              <a:ext cx="6840538" cy="6840538"/>
            </a:xfrm>
            <a:prstGeom prst="rect">
              <a:avLst/>
            </a:prstGeom>
          </p:spPr>
        </p:pic>
        <p:pic>
          <p:nvPicPr>
            <p:cNvPr id="443" name="그림 44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19427"/>
            <a:stretch/>
          </p:blipFill>
          <p:spPr>
            <a:xfrm>
              <a:off x="-257" y="25069984"/>
              <a:ext cx="6840538" cy="5511616"/>
            </a:xfrm>
            <a:prstGeom prst="rect">
              <a:avLst/>
            </a:prstGeom>
          </p:spPr>
        </p:pic>
        <p:grpSp>
          <p:nvGrpSpPr>
            <p:cNvPr id="444" name="그룹 443"/>
            <p:cNvGrpSpPr/>
            <p:nvPr/>
          </p:nvGrpSpPr>
          <p:grpSpPr>
            <a:xfrm>
              <a:off x="454614" y="25748431"/>
              <a:ext cx="6120004" cy="3901068"/>
              <a:chOff x="382037" y="43787164"/>
              <a:chExt cx="6120000" cy="3901095"/>
            </a:xfrm>
          </p:grpSpPr>
          <p:sp>
            <p:nvSpPr>
              <p:cNvPr id="464" name="직사각형 463"/>
              <p:cNvSpPr/>
              <p:nvPr/>
            </p:nvSpPr>
            <p:spPr>
              <a:xfrm>
                <a:off x="382037" y="43787164"/>
                <a:ext cx="6120000" cy="3901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2600"/>
                  </a:lnSpc>
                  <a:spcAft>
                    <a:spcPts val="500"/>
                  </a:spcAft>
                </a:pPr>
                <a:r>
                  <a:rPr lang="en-US" altLang="ko-KR" sz="1800" dirty="0">
                    <a:solidFill>
                      <a:schemeClr val="bg1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Compliance Notice</a:t>
                </a:r>
                <a:endParaRPr lang="ko-KR" altLang="ko-KR" sz="1800" dirty="0">
                  <a:solidFill>
                    <a:schemeClr val="bg1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  <a:p>
                <a:pPr>
                  <a:lnSpc>
                    <a:spcPts val="1900"/>
                  </a:lnSpc>
                </a:pP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자료에 기재된 내용들은 작성자 본인의 의견을 정확하게 반영하고 있으며 외부의 </a:t>
                </a:r>
                <a:r>
                  <a:rPr lang="en-US" altLang="ko-KR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부당한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압력이나 간섭 없이 작성되었음을 확인합니다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(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작성자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: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리서치센터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).</a:t>
                </a:r>
              </a:p>
              <a:p>
                <a:pPr>
                  <a:lnSpc>
                    <a:spcPts val="1900"/>
                  </a:lnSpc>
                </a:pP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자료는 고객의 증권투자를 돕기 위한 정보제공을 목적으로 제작되었습니다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 </a:t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자료에 수록된 내용은 당사 리서치본부가 신뢰할 만한 자료 및 정보를 바탕으로 작성한 것이나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당사가 그 정확성이나 완전성을 보장할 수 없으므로 참고자료로만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활용하시기 바라며 유가증권 투자 시 투자자 자신의 판단과 책임하에 최종결정을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하시기 바랍니다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따라서 본 자료는 어떠한 경우에도 고객의 증권투자 결과에 대한 법적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책임소재의 증빙자료로 사용될 수 없습니다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자료는 당사의 저작물로서 모든 저작권은 당사에게 있으며 어떠한 경우에도 당사의 동의 없이 복제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배포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전송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변형될 수 없습니다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자료는 제공시점 현재 기관투자가 또는 제</a:t>
                </a:r>
                <a:r>
                  <a:rPr lang="en-US" altLang="ko-KR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3</a:t>
                </a:r>
                <a:r>
                  <a:rPr lang="ko-KR" altLang="en-US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자에게 사전 제공한 사실이 없습니다</a:t>
                </a:r>
                <a:r>
                  <a:rPr lang="en-US" altLang="ko-KR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자료의 </a:t>
                </a:r>
                <a:r>
                  <a:rPr lang="ko-KR" altLang="en-US" sz="1400" spc="-31" dirty="0" err="1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추천종목은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전일 기준 현재당사에서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1%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이상 보유하고 있지 않습니다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자료의 </a:t>
                </a:r>
                <a:r>
                  <a:rPr lang="ko-KR" altLang="en-US" sz="1400" spc="-31" dirty="0" err="1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추천종목은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전일 기준 현재 당사의 조사분석 담당자 및 그 배우자 등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  </a:t>
                </a:r>
                <a:r>
                  <a:rPr lang="ko-KR" altLang="en-US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관련자가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보유하고 있지 않습니다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자료의 추천종목에 해당하는 회사는 당사와 계열회사 관계에 있지 않습니다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</p:txBody>
          </p:sp>
          <p:cxnSp>
            <p:nvCxnSpPr>
              <p:cNvPr id="465" name="직선 연결선 464"/>
              <p:cNvCxnSpPr/>
              <p:nvPr/>
            </p:nvCxnSpPr>
            <p:spPr>
              <a:xfrm flipV="1">
                <a:off x="2686050" y="44011396"/>
                <a:ext cx="3689350" cy="436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5" name="그룹 444"/>
            <p:cNvGrpSpPr/>
            <p:nvPr/>
          </p:nvGrpSpPr>
          <p:grpSpPr>
            <a:xfrm>
              <a:off x="-1471" y="-2159790"/>
              <a:ext cx="6841752" cy="7325660"/>
              <a:chOff x="-1214" y="7315880"/>
              <a:chExt cx="6841752" cy="7325660"/>
            </a:xfrm>
          </p:grpSpPr>
          <p:pic>
            <p:nvPicPr>
              <p:cNvPr id="458" name="그림 45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7315880"/>
                <a:ext cx="6840538" cy="7325660"/>
              </a:xfrm>
              <a:prstGeom prst="rect">
                <a:avLst/>
              </a:prstGeom>
            </p:spPr>
          </p:pic>
          <p:pic>
            <p:nvPicPr>
              <p:cNvPr id="459" name="그림 45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7315881"/>
                <a:ext cx="2269735" cy="1160490"/>
              </a:xfrm>
              <a:prstGeom prst="rect">
                <a:avLst/>
              </a:prstGeom>
            </p:spPr>
          </p:pic>
          <p:sp>
            <p:nvSpPr>
              <p:cNvPr id="460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5206" y="9615705"/>
                <a:ext cx="4450125" cy="405726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348319" indent="-342893">
                  <a:lnSpc>
                    <a:spcPct val="120000"/>
                  </a:lnSpc>
                  <a:spcBef>
                    <a:spcPts val="43"/>
                  </a:spcBef>
                  <a:spcAft>
                    <a:spcPts val="1368"/>
                  </a:spcAft>
                  <a:buClr>
                    <a:srgbClr val="C44545"/>
                  </a:buClr>
                  <a:buSzPct val="110000"/>
                  <a:buFont typeface="Wingdings" panose="05000000000000000000" pitchFamily="2" charset="2"/>
                  <a:buChar char="l"/>
                </a:pPr>
                <a:endParaRPr lang="en-US" altLang="ko-KR" sz="2300" dirty="0" smtClean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</p:txBody>
          </p:sp>
          <p:sp>
            <p:nvSpPr>
              <p:cNvPr id="461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2992" y="8626931"/>
                <a:ext cx="4957692" cy="436375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5433"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ko-KR" sz="2800" spc="-140" dirty="0" smtClean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</a:rPr>
                  <a:t>2026</a:t>
                </a:r>
                <a:r>
                  <a:rPr lang="ko-KR" altLang="en-US" sz="2800" spc="-140" dirty="0" smtClean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</a:rPr>
                  <a:t>년 하반기 채권시장 전망</a:t>
                </a:r>
                <a:endParaRPr lang="ko-KR" altLang="en-US" sz="2800" spc="-140" dirty="0">
                  <a:solidFill>
                    <a:srgbClr val="C44545"/>
                  </a:solidFill>
                  <a:latin typeface="학교안심 알림장 TTF B" panose="02000703000000000000" pitchFamily="2" charset="-127"/>
                  <a:ea typeface="학교안심 알림장 TTF B" panose="02000703000000000000" pitchFamily="2" charset="-127"/>
                </a:endParaRPr>
              </a:p>
            </p:txBody>
          </p:sp>
          <p:pic>
            <p:nvPicPr>
              <p:cNvPr id="462" name="그림 46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14" y="8990750"/>
                <a:ext cx="6840538" cy="1575950"/>
              </a:xfrm>
              <a:prstGeom prst="rect">
                <a:avLst/>
              </a:prstGeom>
            </p:spPr>
          </p:pic>
          <p:sp>
            <p:nvSpPr>
              <p:cNvPr id="463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937" y="7979724"/>
                <a:ext cx="2061778" cy="251709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5433"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ko-KR" altLang="en-US" sz="1600" dirty="0" smtClean="0">
                    <a:solidFill>
                      <a:schemeClr val="bg1"/>
                    </a:solidFill>
                    <a:latin typeface="학교안심 알림장 TTF R" panose="02000503000000000000" pitchFamily="2" charset="-127"/>
                    <a:ea typeface="학교안심 알림장 TTF R" panose="02000503000000000000" pitchFamily="2" charset="-127"/>
                  </a:rPr>
                  <a:t>채권</a:t>
                </a:r>
                <a:endParaRPr lang="en-US" altLang="ko-KR" sz="1600" dirty="0" smtClean="0">
                  <a:solidFill>
                    <a:schemeClr val="bg1"/>
                  </a:solidFill>
                  <a:latin typeface="학교안심 알림장 TTF R" panose="02000503000000000000" pitchFamily="2" charset="-127"/>
                  <a:ea typeface="학교안심 알림장 TTF R" panose="02000503000000000000" pitchFamily="2" charset="-127"/>
                </a:endParaRPr>
              </a:p>
            </p:txBody>
          </p:sp>
        </p:grpSp>
        <p:pic>
          <p:nvPicPr>
            <p:cNvPr id="456" name="그림 45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7" y="4658686"/>
              <a:ext cx="6840538" cy="6295518"/>
            </a:xfrm>
            <a:prstGeom prst="rect">
              <a:avLst/>
            </a:prstGeom>
          </p:spPr>
        </p:pic>
        <p:grpSp>
          <p:nvGrpSpPr>
            <p:cNvPr id="447" name="그룹 446"/>
            <p:cNvGrpSpPr/>
            <p:nvPr/>
          </p:nvGrpSpPr>
          <p:grpSpPr>
            <a:xfrm>
              <a:off x="-87363" y="10954204"/>
              <a:ext cx="7077891" cy="7655268"/>
              <a:chOff x="-87106" y="-522957"/>
              <a:chExt cx="7077891" cy="7655268"/>
            </a:xfrm>
          </p:grpSpPr>
          <p:pic>
            <p:nvPicPr>
              <p:cNvPr id="452" name="그림 45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-522957"/>
                <a:ext cx="6840538" cy="7655268"/>
              </a:xfrm>
              <a:prstGeom prst="rect">
                <a:avLst/>
              </a:prstGeom>
            </p:spPr>
          </p:pic>
          <p:sp>
            <p:nvSpPr>
              <p:cNvPr id="454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080" y="897165"/>
                <a:ext cx="5178604" cy="374820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5433"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ko-KR" altLang="en-US" sz="2400" spc="-160" dirty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  <a:cs typeface="+mn-cs"/>
                  </a:rPr>
                  <a:t>미국 채권시장 전망</a:t>
                </a:r>
                <a:r>
                  <a:rPr lang="en-US" altLang="ko-KR" sz="2400" spc="-160" dirty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  <a:cs typeface="+mn-cs"/>
                  </a:rPr>
                  <a:t>: </a:t>
                </a:r>
                <a:r>
                  <a:rPr lang="ko-KR" altLang="en-US" sz="2400" spc="-160" dirty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  <a:cs typeface="+mn-cs"/>
                  </a:rPr>
                  <a:t>아슬아슬한 줄 타기 </a:t>
                </a:r>
                <a:endParaRPr lang="ko-KR" altLang="en-US" sz="2400" spc="-160" dirty="0">
                  <a:solidFill>
                    <a:srgbClr val="C44545"/>
                  </a:solidFill>
                  <a:latin typeface="학교안심 알림장 TTF B" panose="02000703000000000000" pitchFamily="2" charset="-127"/>
                  <a:ea typeface="학교안심 알림장 TTF B" panose="02000703000000000000" pitchFamily="2" charset="-127"/>
                  <a:cs typeface="+mn-cs"/>
                </a:endParaRPr>
              </a:p>
            </p:txBody>
          </p:sp>
          <p:pic>
            <p:nvPicPr>
              <p:cNvPr id="455" name="그림 454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7106" y="1155221"/>
                <a:ext cx="7077891" cy="1575950"/>
              </a:xfrm>
              <a:prstGeom prst="rect">
                <a:avLst/>
              </a:prstGeom>
            </p:spPr>
          </p:pic>
        </p:grpSp>
        <p:sp>
          <p:nvSpPr>
            <p:cNvPr id="449" name="TextBox 448"/>
            <p:cNvSpPr txBox="1"/>
            <p:nvPr/>
          </p:nvSpPr>
          <p:spPr>
            <a:xfrm rot="20652393">
              <a:off x="1714663" y="-7035844"/>
              <a:ext cx="5511800" cy="29336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ts val="5800"/>
                </a:lnSpc>
              </a:pPr>
              <a:r>
                <a:rPr lang="ko-KR" altLang="en-US" sz="5600" spc="-100" dirty="0" smtClean="0">
                  <a:latin typeface="생거진천체" pitchFamily="2" charset="-127"/>
                  <a:ea typeface="생거진천체" pitchFamily="2" charset="-127"/>
                </a:rPr>
                <a:t>오늘의</a:t>
              </a:r>
              <a:endParaRPr lang="en-US" altLang="ko-KR" sz="5600" spc="-100" dirty="0" smtClean="0">
                <a:latin typeface="생거진천체" pitchFamily="2" charset="-127"/>
                <a:ea typeface="생거진천체" pitchFamily="2" charset="-127"/>
              </a:endParaRPr>
            </a:p>
            <a:p>
              <a:pPr>
                <a:lnSpc>
                  <a:spcPts val="5800"/>
                </a:lnSpc>
              </a:pPr>
              <a:r>
                <a:rPr lang="ko-KR" altLang="en-US" sz="5600" spc="-100" dirty="0" err="1" smtClean="0">
                  <a:latin typeface="생거진천체" pitchFamily="2" charset="-127"/>
                  <a:ea typeface="생거진천체" pitchFamily="2" charset="-127"/>
                </a:rPr>
                <a:t>레포트</a:t>
              </a:r>
            </a:p>
            <a:p>
              <a:pPr>
                <a:lnSpc>
                  <a:spcPts val="5800"/>
                </a:lnSpc>
              </a:pPr>
              <a:r>
                <a:rPr lang="ko-KR" altLang="en-US" sz="5400" spc="-400" dirty="0" smtClean="0">
                  <a:solidFill>
                    <a:srgbClr val="004381"/>
                  </a:solidFill>
                  <a:latin typeface="생거진천체" pitchFamily="2" charset="-127"/>
                  <a:ea typeface="생거진천체" pitchFamily="2" charset="-127"/>
                </a:rPr>
                <a:t>에너지 </a:t>
              </a:r>
              <a:r>
                <a:rPr lang="ko-KR" altLang="en-US" sz="5400" spc="-400" dirty="0" err="1">
                  <a:solidFill>
                    <a:srgbClr val="004381"/>
                  </a:solidFill>
                  <a:latin typeface="생거진천체" pitchFamily="2" charset="-127"/>
                  <a:ea typeface="생거진천체" pitchFamily="2" charset="-127"/>
                </a:rPr>
                <a:t>탠트럼</a:t>
              </a:r>
              <a:r>
                <a:rPr lang="en-US" altLang="ko-KR" sz="5400" spc="-400" dirty="0">
                  <a:solidFill>
                    <a:srgbClr val="004381"/>
                  </a:solidFill>
                  <a:latin typeface="생거진천체" pitchFamily="2" charset="-127"/>
                  <a:ea typeface="생거진천체" pitchFamily="2" charset="-127"/>
                </a:rPr>
                <a:t>, </a:t>
              </a:r>
              <a:endParaRPr lang="en-US" altLang="ko-KR" sz="5400" spc="-400" dirty="0" smtClean="0">
                <a:solidFill>
                  <a:srgbClr val="004381"/>
                </a:solidFill>
                <a:latin typeface="생거진천체" pitchFamily="2" charset="-127"/>
                <a:ea typeface="생거진천체" pitchFamily="2" charset="-127"/>
              </a:endParaRPr>
            </a:p>
            <a:p>
              <a:pPr>
                <a:lnSpc>
                  <a:spcPts val="5800"/>
                </a:lnSpc>
              </a:pPr>
              <a:r>
                <a:rPr lang="ko-KR" altLang="en-US" sz="5400" spc="-400" dirty="0" smtClean="0">
                  <a:solidFill>
                    <a:srgbClr val="004381"/>
                  </a:solidFill>
                  <a:latin typeface="생거진천체" pitchFamily="2" charset="-127"/>
                  <a:ea typeface="생거진천체" pitchFamily="2" charset="-127"/>
                </a:rPr>
                <a:t>달라진 경로</a:t>
              </a:r>
              <a:endParaRPr lang="en-US" altLang="ko-KR" sz="5400" spc="-400" dirty="0">
                <a:solidFill>
                  <a:srgbClr val="004381"/>
                </a:solidFill>
                <a:latin typeface="생거진천체" pitchFamily="2" charset="-127"/>
                <a:ea typeface="생거진천체" pitchFamily="2" charset="-127"/>
              </a:endParaRPr>
            </a:p>
          </p:txBody>
        </p:sp>
      </p:grpSp>
      <p:sp>
        <p:nvSpPr>
          <p:cNvPr id="54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076735" y="28548287"/>
            <a:ext cx="4752631" cy="4520570"/>
          </a:xfrm>
          <a:prstGeom prst="rect">
            <a:avLst/>
          </a:prstGeom>
          <a:noFill/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  <a:tabLst>
                <a:tab pos="8523288" algn="l"/>
              </a:tabLst>
              <a:defRPr/>
            </a:pP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ECB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는 공급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충격과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 파급효과 방지를 위해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ECB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는 연내 두 차례의 금리 인상을 단행할 것으로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전망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  <a:tabLst>
                <a:tab pos="8523288" algn="l"/>
              </a:tabLst>
              <a:defRPr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긴축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사이클의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시작이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아닌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인플레이션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기대 완화를 위한 단기적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조정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  <a:tabLst>
                <a:tab pos="8523288" algn="l"/>
              </a:tabLst>
              <a:defRPr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두번째 금리 인상 이후 시장은 인상 종료와 내년 인하 가능성 반영할 것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  <a:tabLst>
                <a:tab pos="8523288" algn="l"/>
              </a:tabLst>
              <a:defRPr/>
            </a:pP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분기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초 금리 인상 단행 이후 </a:t>
            </a:r>
            <a:r>
              <a:rPr lang="ko-KR" altLang="en-US" sz="23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단기물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중심 매수를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권고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147967" y="9003812"/>
            <a:ext cx="4610166" cy="4366682"/>
          </a:xfrm>
          <a:prstGeom prst="rect">
            <a:avLst/>
          </a:prstGeom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에너지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가격 급등세 출현에 국내외 시장 금리는 일제히 발작하듯이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상승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아울러 인플레이션 위험이 확대되면서 통화정책 예상 경로가 조정되기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시작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과연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주요국 중앙은행들은 시장 예상대로 통화정책 결정에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나설지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? 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공급 요인에 기인한 인플레이션 상방 압력을 통화정책으로 대응하는 것이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적절할지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?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130039" y="22269934"/>
            <a:ext cx="4752631" cy="3941950"/>
          </a:xfrm>
          <a:prstGeom prst="rect">
            <a:avLst/>
          </a:prstGeom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지난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년 동안 네 차례의 공급 충격을 경험하고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있음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이중책무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양방에 대한 위험이 높아진 상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황에서 고민이 깊어질 수밖에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없음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섣부른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인상보다 동결 장기화가 덜 위험한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선택지</a:t>
            </a:r>
            <a:r>
              <a:rPr lang="en-US" altLang="ko-KR" sz="230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연준 역시 구성원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변화 존재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연내 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인하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조건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1)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인플레이션의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Peak-out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과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2)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고용 지표의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추가 둔화</a:t>
            </a:r>
            <a:endParaRPr lang="ko-KR" altLang="en-US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043952" y="14765601"/>
            <a:ext cx="4752631" cy="4265244"/>
          </a:xfrm>
          <a:prstGeom prst="rect">
            <a:avLst/>
          </a:prstGeom>
          <a:noFill/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</a:pP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시장은 하반기 중에 한국은행이 인상 사이클로 전환할 것이라 예상 중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</a:pP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국내 경기 회복 기대감 높아진데 더해 지정학 리스크에 따른 </a:t>
            </a:r>
            <a:r>
              <a:rPr lang="ko-KR" altLang="en-US" sz="23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고유가와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고환율 그리고 아마도 살아날 수 있는 수요측 물가 상방 위험을 고려할 때 인상 사이클 전환이 필요하기 때문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</a:pP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인상의 조건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:1)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내수 회복세 지속 여부와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2)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근원 물가 상승률의 추세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전환</a:t>
            </a:r>
            <a:endParaRPr lang="ko-KR" altLang="en-US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224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6117</TotalTime>
  <Words>389</Words>
  <Application>Microsoft Office PowerPoint</Application>
  <PresentationFormat>사용자 지정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나눔스퀘어_ac</vt:lpstr>
      <vt:lpstr>Calibri</vt:lpstr>
      <vt:lpstr>Arial</vt:lpstr>
      <vt:lpstr>Wingdings</vt:lpstr>
      <vt:lpstr>생거진천체</vt:lpstr>
      <vt:lpstr>Calibri Light</vt:lpstr>
      <vt:lpstr>나눔스퀘어_ac ExtraBold</vt:lpstr>
      <vt:lpstr>학교안심 알림장 TTF B</vt:lpstr>
      <vt:lpstr>학교안심 알림장 TTF R</vt:lpstr>
      <vt:lpstr>맑은 고딕</vt:lpstr>
      <vt:lpstr>Office 테마</vt:lpstr>
      <vt:lpstr>PowerPoint 프레젠테이션</vt:lpstr>
    </vt:vector>
  </TitlesOfParts>
  <Company>이트레이드증권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PC-1899</dc:creator>
  <cp:lastModifiedBy>PC-2097</cp:lastModifiedBy>
  <cp:revision>1127</cp:revision>
  <cp:lastPrinted>2024-11-28T00:25:37Z</cp:lastPrinted>
  <dcterms:created xsi:type="dcterms:W3CDTF">2024-10-14T22:57:29Z</dcterms:created>
  <dcterms:modified xsi:type="dcterms:W3CDTF">2026-05-20T00:24:57Z</dcterms:modified>
</cp:coreProperties>
</file>